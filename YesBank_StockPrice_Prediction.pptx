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B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B45"/>
                </a:solidFill>
                <a:latin typeface="Calibri"/>
              </a:rPr>
              <a:t>R² Score by Model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27496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0.964</c:v>
                </c:pt>
                <c:pt idx="1">
                  <c:v>0.934</c:v>
                </c:pt>
                <c:pt idx="2">
                  <c:v>0.963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4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B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B45"/>
                </a:solidFill>
                <a:latin typeface="Calibri"/>
              </a:rPr>
              <a:t>RMSE by Model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(₹)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17.92</c:v>
                </c:pt>
                <c:pt idx="1">
                  <c:v>24.45</c:v>
                </c:pt>
                <c:pt idx="2">
                  <c:v>18.29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B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B45"/>
                </a:solidFill>
                <a:latin typeface="Calibri"/>
              </a:rPr>
              <a:t>Linear Regression Coefficients (Feature Impact on Close)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2749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B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Open</c:v>
                  </c:pt>
                  <c:pt idx="1">
                    <c:v>Price_Range</c:v>
                  </c:pt>
                  <c:pt idx="2">
                    <c:v>Prior_Volatility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</c:v>
                </c:pt>
                <c:pt idx="1">
                  <c:v>-12.5</c:v>
                </c:pt>
                <c:pt idx="2">
                  <c:v>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2B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B4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27496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 ·  EDA &amp; REGRESSION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Bank Stock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Price Prediction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forecasting monthly closing prices using historical OHLC data (2005-2020)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Data Science  ·  Individual Contribution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88720" cy="118872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5" name="Image 0" descr="/home/claude/icons/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97693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737360"/>
            <a:ext cx="8961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are volatile and shaped by many interacting market forces.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Bank's price history spans a rally, a governance crisis, and a sharp collapse.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trend-reading cannot reliably anticipate future closing prices.</a:t>
            </a:r>
            <a:endParaRPr lang="en-US" sz="16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model is needed to quantify the Open-High-Low-Close relationship.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2B45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07492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Yes Bank stock prices and build a regression model that accurately predicts the monthly closing price from Open, High, and Low.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2456" y="2148840"/>
            <a:ext cx="914400" cy="91440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/home/claude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236829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2461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Data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49808" y="397764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trends, distributions and volatility in Yes Bank's OHLC history.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182880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2148840"/>
            <a:ext cx="914400" cy="914400"/>
          </a:xfrm>
          <a:prstGeom prst="ellipse">
            <a:avLst/>
          </a:prstGeom>
          <a:solidFill>
            <a:srgbClr val="142B45"/>
          </a:solidFill>
          <a:ln/>
        </p:spPr>
      </p:sp>
      <p:pic>
        <p:nvPicPr>
          <p:cNvPr id="11" name="Image 1" descr="/home/claude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36829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1296" y="32461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Leak-Free Features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47872" y="397764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signals without letting the target leak into inputs.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44768" y="182880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58584" y="2148840"/>
            <a:ext cx="914400" cy="91440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6" name="Image 2" descr="/home/claude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36829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2461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Compare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45936" y="397764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 Regression, Random Forest, and XGBoost regressors.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42832" y="1828800"/>
            <a:ext cx="2542032" cy="356616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56648" y="2148840"/>
            <a:ext cx="914400" cy="914400"/>
          </a:xfrm>
          <a:prstGeom prst="ellipse">
            <a:avLst/>
          </a:prstGeom>
          <a:solidFill>
            <a:srgbClr val="142B45"/>
          </a:solidFill>
          <a:ln/>
        </p:spPr>
      </p:sp>
      <p:pic>
        <p:nvPicPr>
          <p:cNvPr id="21" name="Image 3" descr="/home/claude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36829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32461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a Reliable Predictor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44000" y="3977640"/>
            <a:ext cx="213969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model with the best accuracy and generalization for deployment.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2B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2B45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19202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26517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2B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3383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2B45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35204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246120" y="4251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178308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Yes Bank stock prices from July 2005 to November 2020.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Date, Open, High, Low, and Close (all numerical, well-structured).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verified clean at the outset - no imputation or deduplication needed.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parsed to datetime and sorted chronologically for time-series integrity.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MODEL-READY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039112"/>
            <a:ext cx="804672" cy="804672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6" name="Image 0" descr="/home/claude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0441" y="2232233"/>
            <a:ext cx="418429" cy="418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5351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1071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 - no imputation required.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6704" y="178308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15384" y="2039112"/>
            <a:ext cx="804672" cy="804672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1" name="Image 1" descr="/home/claude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505" y="2232233"/>
            <a:ext cx="418429" cy="418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295351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9584" y="341071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 IQR/box plots; retained as genuine market volatility.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44768" y="178308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3448" y="2039112"/>
            <a:ext cx="804672" cy="804672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6" name="Image 2" descr="/home/claude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569" y="2232233"/>
            <a:ext cx="418429" cy="4184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1928" y="295351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Encoding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341071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- all features are purely numerical.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42832" y="178308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11512" y="2039112"/>
            <a:ext cx="804672" cy="804672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21" name="Image 3" descr="/home/claude/icons/pie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633" y="2232233"/>
            <a:ext cx="418429" cy="418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2953512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25712" y="3410712"/>
            <a:ext cx="2176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(mean = 0, std = 1) for stable model training.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434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CFE0F0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4590288"/>
            <a:ext cx="10241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80:20 chronological train-test split - trains on early history, tests on unseen later months.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a continuous regression target (Close price) - not a classification task, so class imbalance does not apply.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Trends Over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09360" y="1691640"/>
            <a:ext cx="5349240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pic>
        <p:nvPicPr>
          <p:cNvPr id="5" name="Image 0" descr="/home/claude/charts/closing_price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828800"/>
            <a:ext cx="507492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climbs from ₹13 (Jul 2005) to an all-time high of ₹367.90 (Jul 2018).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low of ₹9.98 hit in Mar 2009 during the global financial crisis.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late 2018, price collapses sharply amid governance and asset-quality issues.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regimes: early volatility, a 2009-2018 rally, and a post-2018 correction.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Between Price Variables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6052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pic>
        <p:nvPicPr>
          <p:cNvPr id="5" name="Image 0" descr="/home/claude/chart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70332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1691640"/>
            <a:ext cx="416052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pic>
        <p:nvPicPr>
          <p:cNvPr id="7" name="Image 1" descr="/home/claude/charts/scatter_open_cl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965960"/>
            <a:ext cx="3794760" cy="3246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81160" y="178308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price pairs correlate above 0.97; Low-Close is strongest (≈0.995).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Open-Close correlation ≈0.978, confirming Open as a top predictor of Close.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redundancy among Open, High, Low guided careful feature selection.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RIGHT SIGNALS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2B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96312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standalone linear signal for Close.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2B45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Price_Range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2496312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- Low; captures the month's trading intensity.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2B45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965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Prior_Volatility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83880" y="2496312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3-month rolling std. dev.; forward-looking, non-leaking.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10241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MA_5 and Rolling_STD deliberately excluded - their windows include the current Close, causing target leakage.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Correlation-based feature selection removed highly redundant, overlapping predictors.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categorical encoding, extra transformation, or dimensionality reduction needed - data was already compact and numerical.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PREDICTIONS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2336" y="192024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27496D"/>
          </a:solidFill>
          <a:ln/>
        </p:spPr>
      </p:sp>
      <p:sp>
        <p:nvSpPr>
          <p:cNvPr id="5" name="Shape 3"/>
          <p:cNvSpPr/>
          <p:nvPr/>
        </p:nvSpPr>
        <p:spPr>
          <a:xfrm>
            <a:off x="973836" y="2084832"/>
            <a:ext cx="731520" cy="731520"/>
          </a:xfrm>
          <a:prstGeom prst="ellipse">
            <a:avLst/>
          </a:prstGeom>
          <a:solidFill>
            <a:srgbClr val="1D3A5A"/>
          </a:solidFill>
          <a:ln/>
        </p:spPr>
      </p:sp>
      <p:pic>
        <p:nvPicPr>
          <p:cNvPr id="6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401" y="226039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" y="2852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322576" y="2679192"/>
            <a:ext cx="411480" cy="219456"/>
          </a:xfrm>
          <a:prstGeom prst="rightArrow">
            <a:avLst/>
          </a:prstGeom>
          <a:solidFill>
            <a:srgbClr val="AEBDD0"/>
          </a:solidFill>
          <a:ln/>
        </p:spPr>
      </p:sp>
      <p:sp>
        <p:nvSpPr>
          <p:cNvPr id="9" name="Shape 6"/>
          <p:cNvSpPr/>
          <p:nvPr/>
        </p:nvSpPr>
        <p:spPr>
          <a:xfrm>
            <a:off x="2779776" y="192024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27496D"/>
          </a:solidFill>
          <a:ln/>
        </p:spPr>
      </p:sp>
      <p:sp>
        <p:nvSpPr>
          <p:cNvPr id="10" name="Shape 7"/>
          <p:cNvSpPr/>
          <p:nvPr/>
        </p:nvSpPr>
        <p:spPr>
          <a:xfrm>
            <a:off x="3351276" y="2084832"/>
            <a:ext cx="731520" cy="731520"/>
          </a:xfrm>
          <a:prstGeom prst="ellipse">
            <a:avLst/>
          </a:prstGeom>
          <a:solidFill>
            <a:srgbClr val="1D3A5A"/>
          </a:solidFill>
          <a:ln/>
        </p:spPr>
      </p:sp>
      <p:pic>
        <p:nvPicPr>
          <p:cNvPr id="11" name="Image 1" descr="/home/claude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841" y="226039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88336" y="2852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3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00016" y="2679192"/>
            <a:ext cx="411480" cy="219456"/>
          </a:xfrm>
          <a:prstGeom prst="rightArrow">
            <a:avLst/>
          </a:prstGeom>
          <a:solidFill>
            <a:srgbClr val="AEBDD0"/>
          </a:solidFill>
          <a:ln/>
        </p:spPr>
      </p:sp>
      <p:sp>
        <p:nvSpPr>
          <p:cNvPr id="14" name="Shape 10"/>
          <p:cNvSpPr/>
          <p:nvPr/>
        </p:nvSpPr>
        <p:spPr>
          <a:xfrm>
            <a:off x="5157216" y="192024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27496D"/>
          </a:solidFill>
          <a:ln/>
        </p:spPr>
      </p:sp>
      <p:sp>
        <p:nvSpPr>
          <p:cNvPr id="15" name="Shape 11"/>
          <p:cNvSpPr/>
          <p:nvPr/>
        </p:nvSpPr>
        <p:spPr>
          <a:xfrm>
            <a:off x="5728716" y="2084832"/>
            <a:ext cx="731520" cy="731520"/>
          </a:xfrm>
          <a:prstGeom prst="ellipse">
            <a:avLst/>
          </a:prstGeom>
          <a:solidFill>
            <a:srgbClr val="1D3A5A"/>
          </a:solidFill>
          <a:ln/>
        </p:spPr>
      </p:sp>
      <p:pic>
        <p:nvPicPr>
          <p:cNvPr id="16" name="Image 2" descr="/home/claude/icons/t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281" y="2260397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65776" y="2852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077456" y="2679192"/>
            <a:ext cx="411480" cy="219456"/>
          </a:xfrm>
          <a:prstGeom prst="rightArrow">
            <a:avLst/>
          </a:prstGeom>
          <a:solidFill>
            <a:srgbClr val="AEBDD0"/>
          </a:solidFill>
          <a:ln/>
        </p:spPr>
      </p:sp>
      <p:sp>
        <p:nvSpPr>
          <p:cNvPr id="19" name="Shape 14"/>
          <p:cNvSpPr/>
          <p:nvPr/>
        </p:nvSpPr>
        <p:spPr>
          <a:xfrm>
            <a:off x="7534656" y="192024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27496D"/>
          </a:solidFill>
          <a:ln/>
        </p:spPr>
      </p:sp>
      <p:sp>
        <p:nvSpPr>
          <p:cNvPr id="20" name="Shape 15"/>
          <p:cNvSpPr/>
          <p:nvPr/>
        </p:nvSpPr>
        <p:spPr>
          <a:xfrm>
            <a:off x="8106156" y="2084832"/>
            <a:ext cx="731520" cy="731520"/>
          </a:xfrm>
          <a:prstGeom prst="ellipse">
            <a:avLst/>
          </a:prstGeom>
          <a:solidFill>
            <a:srgbClr val="1D3A5A"/>
          </a:solidFill>
          <a:ln/>
        </p:spPr>
      </p:sp>
      <p:pic>
        <p:nvPicPr>
          <p:cNvPr id="21" name="Image 3" descr="/home/claude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721" y="2260397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3216" y="2852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454896" y="2679192"/>
            <a:ext cx="411480" cy="219456"/>
          </a:xfrm>
          <a:prstGeom prst="rightArrow">
            <a:avLst/>
          </a:prstGeom>
          <a:solidFill>
            <a:srgbClr val="AEBDD0"/>
          </a:solidFill>
          <a:ln/>
        </p:spPr>
      </p:sp>
      <p:sp>
        <p:nvSpPr>
          <p:cNvPr id="24" name="Shape 18"/>
          <p:cNvSpPr/>
          <p:nvPr/>
        </p:nvSpPr>
        <p:spPr>
          <a:xfrm>
            <a:off x="9912096" y="192024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E8A33D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83596" y="2084832"/>
            <a:ext cx="731520" cy="731520"/>
          </a:xfrm>
          <a:prstGeom prst="ellipse">
            <a:avLst/>
          </a:prstGeom>
          <a:solidFill>
            <a:srgbClr val="142B45"/>
          </a:solidFill>
          <a:ln/>
        </p:spPr>
      </p:sp>
      <p:pic>
        <p:nvPicPr>
          <p:cNvPr id="26" name="Image 4" descr="/home/claude/icons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9161" y="2260397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2852928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22960" y="41605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regressors trained on identical leakage-free features: Linear Regression, Random Forest, XGBoost.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used for hyperparameter tuning with cross-validation on each model.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and R² tracked consistently to compare models on the same held-out test set.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CONTENDERS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7830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leads on both metrics; XGBoost is a close second; Random Forest trails.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WINNING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Results &amp; Feature Importance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42B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9280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77440" y="178308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42B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1012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17.92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377440" y="320040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(₹)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142B4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72744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377440" y="46177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(₹)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251960" y="1783080"/>
          <a:ext cx="7406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dominates the prediction; Price_Range has a smaller negative effect; Prior_Volatility contributes a minor adjustment.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SHOWED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High, and Low are near-perfectly correlated (&gt;0.97) with Close - strong, legitimate predictors.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(R² ≈ 0.964) outperformed both Random Forest and XGBoost on this dataset.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Open-Close relationship is close to linear, so tree ensembles gained no real advantage.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did not improve any model - defaults already performed well on 185 rows.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leakage prevention (excluding MA_5, Rolling_STD) was critical to trustworthy evaluation.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14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shows three regimes: 2005-2009 volatility, a 2009-2018 rally, a post-2018 collapse.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114800" cy="4114800"/>
          </a:xfrm>
          <a:prstGeom prst="ellipse">
            <a:avLst/>
          </a:prstGeom>
          <a:solidFill>
            <a:srgbClr val="27496D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Reliable, Interpretable Predictor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objective was successfully achieved through systematic EDA, leakage-aware feature engineering, and model evaluation.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delivered the best balance of accuracy, generalization, and interpretability.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explains about 96% of the variance in Yes Bank's monthly closing price (R² ≈ 0.96).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OHLC data alone, handled carefully, is sufficient for strong short-horizon price prediction.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183880" y="187452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1D3A5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2423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2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412480" y="3429000"/>
            <a:ext cx="2788920" cy="0"/>
          </a:xfrm>
          <a:prstGeom prst="line">
            <a:avLst/>
          </a:prstGeom>
          <a:noFill/>
          <a:ln w="12700">
            <a:solidFill>
              <a:srgbClr val="3A5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0.964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≈ ₹17.92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₹11.52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CAN GO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21031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686" y="23006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Richer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macroeconomic indicators, trading volume, and news sentiment.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182880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06240" y="2103120"/>
            <a:ext cx="822960" cy="82296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11" name="Image 1" descr="/home/claude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750" y="230063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3864" y="310896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Models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9584" y="37033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LSTM/GRU or ARIMA-family models for sequential dependence.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44768" y="182880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04304" y="21031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814" y="23006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1928" y="310896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Horizons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37033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monthly to weekly or daily prediction granularity.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42832" y="182880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DDE5EF"/>
            </a:solidFill>
            <a:prstDash val="solid"/>
          </a:ln>
          <a:effectLst>
            <a:outerShdw sx="100000" sy="100000" kx="0" ky="0" algn="bl" rotWithShape="0" blurRad="76200" dist="25400" dir="5400000">
              <a:srgbClr val="1A2B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02368" y="2103120"/>
            <a:ext cx="822960" cy="82296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21" name="Image 3" descr="/home/claude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878" y="23006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79992" y="310896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25712" y="37033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saved model via an API or dashboard for live forecasting.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3657600" cy="3657600"/>
          </a:xfrm>
          <a:prstGeom prst="ellipse">
            <a:avLst/>
          </a:prstGeom>
          <a:solidFill>
            <a:srgbClr val="E8A33D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27496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874520"/>
            <a:ext cx="1097280" cy="1097280"/>
          </a:xfrm>
          <a:prstGeom prst="ellipse">
            <a:avLst/>
          </a:prstGeom>
          <a:solidFill>
            <a:srgbClr val="27496D"/>
          </a:solidFill>
          <a:ln/>
        </p:spPr>
      </p:sp>
      <p:pic>
        <p:nvPicPr>
          <p:cNvPr id="5" name="Image 0" descr="/home/claude/icons/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9183" y="2137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Stock Closing Price Prediction  |  Harini S  |  M.Sc. Data Science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2026-07-10T02:53:14Z</dcterms:created>
  <dcterms:modified xsi:type="dcterms:W3CDTF">2026-07-10T02:53:14Z</dcterms:modified>
</cp:coreProperties>
</file>